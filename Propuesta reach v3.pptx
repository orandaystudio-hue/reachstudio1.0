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85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· JUNIO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26510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PARA RE:ACH STUDIO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4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web a la altura
de su </a:t>
            </a:r>
            <a:r>
              <a:rPr lang="en-US" sz="54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943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de desarrollo web estratégico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572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página que comunica autoridad, ordena su oferta y convierte visitas en conversaciones por WhatsApp.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5532120"/>
            <a:ext cx="1172261" cy="347472"/>
          </a:xfrm>
          <a:prstGeom prst="roundRect">
            <a:avLst>
              <a:gd name="adj" fmla="val 47368"/>
            </a:avLst>
          </a:prstGeom>
          <a:solidFill>
            <a:srgbClr val="1A1512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31213" y="5532120"/>
            <a:ext cx="1618488" cy="347472"/>
          </a:xfrm>
          <a:prstGeom prst="roundRect">
            <a:avLst>
              <a:gd name="adj" fmla="val 47368"/>
            </a:avLst>
          </a:prstGeom>
          <a:solidFill>
            <a:srgbClr val="1A1512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14293" y="5532120"/>
            <a:ext cx="949147" cy="347472"/>
          </a:xfrm>
          <a:prstGeom prst="roundRect">
            <a:avLst>
              <a:gd name="adj" fmla="val 47368"/>
            </a:avLst>
          </a:prstGeom>
          <a:solidFill>
            <a:srgbClr val="1A1512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5532120"/>
            <a:ext cx="1618488" cy="347472"/>
          </a:xfrm>
          <a:prstGeom prst="roundRect">
            <a:avLst>
              <a:gd name="adj" fmla="val 47368"/>
            </a:avLst>
          </a:prstGeom>
          <a:solidFill>
            <a:srgbClr val="1A1512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11112" y="5532120"/>
            <a:ext cx="1395374" cy="347472"/>
          </a:xfrm>
          <a:prstGeom prst="roundRect">
            <a:avLst>
              <a:gd name="adj" fmla="val 47368"/>
            </a:avLst>
          </a:prstGeom>
          <a:solidFill>
            <a:srgbClr val="1A1512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730045" cy="347472"/>
          </a:xfrm>
          <a:prstGeom prst="roundRect">
            <a:avLst>
              <a:gd name="adj" fmla="val 47368"/>
            </a:avLst>
          </a:prstGeom>
          <a:solidFill>
            <a:srgbClr val="6B0F1A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marca ya tiene nivel.
Le falta su </a:t>
            </a:r>
            <a:r>
              <a:rPr lang="en-US" sz="30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propia.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Revisamos el Instagram de re:ach antes de esta reunión. Lo que encontramos: </a:t>
            </a: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 editorial, comunicación bilingüe clara y una oferta de servicios premium bien planteada.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nivel ya está. Lo que falta es el espacio donde todo eso se demuestra, convence y cierra.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5013655" cy="1234440"/>
          </a:xfrm>
          <a:prstGeom prst="roundRect">
            <a:avLst>
              <a:gd name="adj" fmla="val 7407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803136" y="1682496"/>
            <a:ext cx="457474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03136" y="2084832"/>
            <a:ext cx="457474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Identidad editorial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03136" y="2414016"/>
            <a:ext cx="4574743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Paleta, tipografía y estética con criterio. Nivel estudio internacional.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2926080"/>
            <a:ext cx="5013655" cy="1234440"/>
          </a:xfrm>
          <a:prstGeom prst="roundRect">
            <a:avLst>
              <a:gd name="adj" fmla="val 7407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03136" y="3054096"/>
            <a:ext cx="457474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03136" y="3456432"/>
            <a:ext cx="457474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 directo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03136" y="3785616"/>
            <a:ext cx="4574743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"It is not just posting." Comunicación clara y bilingüe que ya conecta.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4297680"/>
            <a:ext cx="5013655" cy="1234440"/>
          </a:xfrm>
          <a:prstGeom prst="roundRect">
            <a:avLst>
              <a:gd name="adj" fmla="val 7407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803136" y="4425696"/>
            <a:ext cx="457474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03136" y="4828032"/>
            <a:ext cx="4574743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oportunidad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03136" y="5157216"/>
            <a:ext cx="4574743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web propia convierte ese nivel en clientes. Eso todavía no existe.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OPORTUNIDAD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064715" cy="347472"/>
          </a:xfrm>
          <a:prstGeom prst="roundRect">
            <a:avLst>
              <a:gd name="adj" fmla="val 47368"/>
            </a:avLst>
          </a:prstGeom>
          <a:solidFill>
            <a:srgbClr val="F4ECDD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OPORTUNIDAD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8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más obvia
</a:t>
            </a:r>
            <a:r>
              <a:rPr lang="en-US" sz="38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año.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3044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tienen seguidores que los investigan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falta el lugar donde confirman que sí quieren trabajar con ustedes.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4187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tienen servicios premium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5880" y="4572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falta explicarlos en un espacio donde el prospecto llegue listo para contratar.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5349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5330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 tienen autoridad de marca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25880" y="57150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falta el punto donde esa autoridad convierte. Ese punto es la web.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3017520"/>
            <a:ext cx="4190695" cy="2651760"/>
          </a:xfrm>
          <a:prstGeom prst="roundRect">
            <a:avLst>
              <a:gd name="adj" fmla="val 4138"/>
            </a:avLst>
          </a:prstGeom>
          <a:solidFill>
            <a:srgbClr val="4A0A1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589520" y="3246120"/>
            <a:ext cx="373349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oportunidad</a:t>
            </a:r>
            <a:endParaRPr lang="en-US" sz="2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obvia.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589520" y="4617720"/>
            <a:ext cx="37334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re:ach ya tiene todo lo que necesita para cerrar más clientes. Solo falta el lugar donde eso sucede.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LA WEB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810020"/>
            <a:ext cx="3738067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SUGERIDA DE LA WEB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284732"/>
            <a:ext cx="9601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Siete secciones para que</a:t>
            </a:r>
            <a:endParaRPr lang="en-US" sz="33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3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web </a:t>
            </a:r>
            <a:endParaRPr lang="en-US" sz="33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33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trabaje sola.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999232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con propuesta de valor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319272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impresión: qué hace re:ach, para quién es y qué hacer ahora.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70168" y="299923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73088" y="2999232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73088" y="3319272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servicio con nombre, descripción breve y CTA directo.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6941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694176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 de trabajo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14216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opera el estudio. Genera confianza y los diferencia.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0168" y="36941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3088" y="3694176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Proyectos o enfoque visual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3088" y="4014216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Portafolio o muestra editorial. Prueba visual, sin texto de relleno.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re:ach studio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709160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Quiénes son, su filosofía y por qué trabajar con ellos.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0168" y="43891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3088" y="4389120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frecuentes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73088" y="4709160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Resuelve objeciones antes de que lleguen a la conversación.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508406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084064"/>
            <a:ext cx="47242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 </a:t>
            </a:r>
            <a:r>
              <a:rPr lang="en-US" sz="1200" b="1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</a:t>
            </a: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WhatsApp / agenda de </a:t>
            </a:r>
            <a:r>
              <a:rPr lang="en-US" sz="1200" b="1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llamadas</a:t>
            </a: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404104"/>
            <a:ext cx="47242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final: botón directo con mensaje prellenado. Sin </a:t>
            </a:r>
            <a:r>
              <a:rPr lang="en-US" sz="1000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formularios</a:t>
            </a: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 err="1">
                <a:solidFill>
                  <a:srgbClr val="C9BBA8"/>
                </a:solidFill>
                <a:latin typeface="Segoe UI" pitchFamily="34" charset="0"/>
                <a:cs typeface="Segoe UI" pitchFamily="34" charset="-120"/>
              </a:rPr>
              <a:t>Formularios</a:t>
            </a:r>
            <a:r>
              <a:rPr lang="en-US" sz="1000" dirty="0">
                <a:solidFill>
                  <a:srgbClr val="C9BBA8"/>
                </a:solidFill>
                <a:latin typeface="Segoe UI" pitchFamily="34" charset="0"/>
                <a:cs typeface="Segoe UI" pitchFamily="34" charset="-120"/>
              </a:rPr>
              <a:t> para leads </a:t>
            </a:r>
            <a:r>
              <a:rPr lang="en-US" sz="1000" dirty="0" err="1">
                <a:solidFill>
                  <a:srgbClr val="C9BBA8"/>
                </a:solidFill>
                <a:latin typeface="Segoe UI" pitchFamily="34" charset="0"/>
                <a:cs typeface="Segoe UI" pitchFamily="34" charset="-120"/>
              </a:rPr>
              <a:t>interesados</a:t>
            </a:r>
            <a:r>
              <a:rPr lang="en-US" sz="1000" dirty="0">
                <a:solidFill>
                  <a:srgbClr val="C9BBA8"/>
                </a:solidFill>
                <a:latin typeface="Segoe UI" pitchFamily="34" charset="0"/>
                <a:cs typeface="Segoe UI" pitchFamily="34" charset="-120"/>
              </a:rPr>
              <a:t>.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ENTREGABLES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064715" cy="347472"/>
          </a:xfrm>
          <a:prstGeom prst="roundRect">
            <a:avLst>
              <a:gd name="adj" fmla="val 47368"/>
            </a:avLst>
          </a:prstGeom>
          <a:solidFill>
            <a:srgbClr val="6B0F1A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ENTREGAMOS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lo que incluye </a:t>
            </a:r>
            <a:r>
              <a:rPr lang="en-US" sz="34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proyecto.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13816" y="277977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13816" y="318211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responsive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3816" y="351129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Impecable en celular, tablet y computadora.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9968" y="265176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619424" y="277977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19424" y="318211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base incluido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9424" y="351129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Textos alineados a su tono y servicios.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5576" y="265176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25032" y="277977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25032" y="318211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WhatsApp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25032" y="351129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Botón con mensaje prellenado en cada sección.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11183" y="265176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9230639" y="277977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30639" y="318211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 optimizada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0639" y="351129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Sitio ligero. Sin esperas que pierdan al visitante.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57200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813816" y="470001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13816" y="510235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Favicon + imagen OG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3816" y="543153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Ícono en pestaña y vista previa al compartir.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99968" y="457200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619424" y="470001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3619424" y="510235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incluido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619424" y="543153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web vive en la nube, sin costo mensual.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5576" y="457200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425032" y="470001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6425032" y="510235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Asesoría de contenido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25032" y="543153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exacta de lo que necesitamos de su parte.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11183" y="4572000"/>
            <a:ext cx="2586152" cy="1719072"/>
          </a:xfrm>
          <a:prstGeom prst="roundRect">
            <a:avLst>
              <a:gd name="adj" fmla="val 5319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9230639" y="4700016"/>
            <a:ext cx="2147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230639" y="5102352"/>
            <a:ext cx="2147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y entrega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230639" y="5431536"/>
            <a:ext cx="2147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Subimos la web al dominio y explicamos cómo usarla.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176272" cy="347472"/>
          </a:xfrm>
          <a:prstGeom prst="roundRect">
            <a:avLst>
              <a:gd name="adj" fmla="val 47368"/>
            </a:avLst>
          </a:prstGeom>
          <a:solidFill>
            <a:srgbClr val="0E0B0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TRABAJAMOS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Siete pasos, </a:t>
            </a:r>
            <a:r>
              <a:rPr lang="en-US" sz="34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cero complicaciones.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34440" y="277063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Reunión de arranque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309067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Entendemos la marca, objetivos, referencias y lo que quieren comunicar.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4440" y="363931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de contenido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395935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Enviamos una lista exacta: logo, textos, imágenes, accesos.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34440" y="4507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visual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34440" y="482803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Definimos secciones, flujo y propuesta de diseño.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34440" y="537667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y desarrollo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569671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Construimos la web completa: diseño, código y contenido.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0168" y="2788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010248" y="277063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y ajustes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10248" y="309067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Afinamos</a:t>
            </a: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dirty="0" err="1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</a:t>
            </a: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publicar.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0168" y="3657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010248" y="363931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en vivo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10248" y="395935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Subimos todo y la dejamos funcionando.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70168" y="4526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010248" y="4507992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final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10248" y="4828032"/>
            <a:ext cx="45870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Explicamos cómo funciona y qué sigue si quieren crecer.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176272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 ESTIMADO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6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web, lista en
</a:t>
            </a:r>
            <a:r>
              <a:rPr lang="en-US" sz="46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días hábiles.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tiempo real depende de qué tan rápido recibamos la información. Con todo a la mano, en 5 días hábiles la web está en vivo.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1984248"/>
            <a:ext cx="128016" cy="128016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04672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Día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Reunión de arranque y brief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852928"/>
            <a:ext cx="128016" cy="128016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04672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Día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y propuesta visual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3721608"/>
            <a:ext cx="128016" cy="128016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467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Días 3–4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Diseño, desarrollo y ajustes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4590288"/>
            <a:ext cx="128016" cy="128016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046720" y="4480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Día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0" y="4480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final y publicación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1506931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inversión, </a:t>
            </a:r>
            <a:r>
              <a:rPr lang="en-US" sz="34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incluido.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5029200" cy="3383280"/>
          </a:xfrm>
          <a:prstGeom prst="roundRect">
            <a:avLst>
              <a:gd name="adj" fmla="val 3243"/>
            </a:avLst>
          </a:prstGeom>
          <a:solidFill>
            <a:srgbClr val="0E0B0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ESTIMADO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0906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strike="sngStrike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$8,000 – $10,500 MXN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3520440"/>
            <a:ext cx="4297680" cy="0"/>
          </a:xfrm>
          <a:prstGeom prst="line">
            <a:avLst/>
          </a:prstGeom>
          <a:noFill/>
          <a:ln w="12700">
            <a:solidFill>
              <a:srgbClr val="2A252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914400" y="3630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FUNDADOR — RE:ACH STUDIO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877056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0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$3,500</a:t>
            </a:r>
            <a:r>
              <a:rPr lang="en-US" sz="15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MXN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14400" y="47731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re:ach studio sería uno de </a:t>
            </a:r>
            <a:r>
              <a:rPr lang="en-US" sz="1050" i="1" dirty="0" err="1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nuestros</a:t>
            </a:r>
            <a:r>
              <a:rPr lang="en-US" sz="1050" i="1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primeros 10 proyectos. A cambio: testimonio + portafolio.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2852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Sugerido: 50% para arrancar · 50% al entregar.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3849624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 ÚNICO. SIN MENSUALIDADES.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547085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INCLUIDO SIN COSTO ADICIONAL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312724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145536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gratuito 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La web vive en la nube. Sin mensualidad de servidor.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65760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675888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a WhatsApp 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Botón con mensaje prellenado en cada sección clave.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8795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206240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Adaptación móvil completa 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Impecable en cualquier celular o tablet.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71830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4736592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Ronda de ajustes 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Afinamos detalles juntos antes de publicar.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524865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5266944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Asesoría de contenido 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Los orientamos con textos e imágenes.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577900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5797296"/>
            <a:ext cx="51508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</a:t>
            </a:r>
            <a:r>
              <a:rPr lang="en-US" sz="1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Explicamos todo al entregar. Sin misterios.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OPCIONALES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3068726" cy="347472"/>
          </a:xfrm>
          <a:prstGeom prst="roundRect">
            <a:avLst>
              <a:gd name="adj" fmla="val 47368"/>
            </a:avLst>
          </a:prstGeom>
          <a:solidFill>
            <a:srgbClr val="0E0B0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COMPLEMENTOS OPCIONALES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Crece </a:t>
            </a:r>
            <a:r>
              <a:rPr lang="en-US" sz="34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lo necesites.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son parte de la propuesta base, pero están disponibles cuando los necesiten.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971800"/>
            <a:ext cx="2599868" cy="2788920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32104" y="320040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Mantenimiento mensual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32104" y="3703320"/>
            <a:ext cx="21243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$700 / mes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2104" y="4279392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Respaldos, monitoreo de velocidad, soporte técnico y hasta 2 cambios pequeños al mes. Sin contrato mínimo.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95396" y="2971800"/>
            <a:ext cx="2599868" cy="2788920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633140" y="320040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Cambios extra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33140" y="3703320"/>
            <a:ext cx="21243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desde $350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33140" y="4279392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Ajustes de textos, imágenes o secciones fuera de la ronda de revisión incluida.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6432" y="2971800"/>
            <a:ext cx="2599868" cy="2788920"/>
          </a:xfrm>
          <a:prstGeom prst="roundRect">
            <a:avLst>
              <a:gd name="adj" fmla="val 3517"/>
            </a:avLst>
          </a:prstGeom>
          <a:solidFill>
            <a:srgbClr val="FFFFFF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34176" y="320040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adicional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4176" y="3703320"/>
            <a:ext cx="21243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DC35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precio preferencial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34176" y="4279392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 extra para campañas o servicios específicos, a tarifa especial por ser cliente activo.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211" y="3200400"/>
            <a:ext cx="2124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35211" y="3703320"/>
            <a:ext cx="21243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35211" y="4279392"/>
            <a:ext cx="21243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925312"/>
            <a:ext cx="1100297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 opciones, no condiciones. La web funciona completa sin contratar ningún complemento.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ORANDAY STUDIO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57170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ORANDAY STUDIO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con criterio, </a:t>
            </a:r>
            <a:r>
              <a:rPr lang="en-US" sz="32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sin rodeos.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850392" y="2990088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Trato directo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0392" y="3374136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Hablan con quien diseña y construye. Sin intermediarios, sin teléfono descompuesto.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458" y="2788920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09490" y="2990088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 cuidado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9490" y="3374136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decisión visual tiene intención. Nada genérico, nada de plantillas de stock.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2788920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68589" y="2990088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 en conversión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68589" y="3374136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trata de que se vea bien. Se trata de que el visitante correcto tome acción.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654296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50392" y="4855464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Comunicación clara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" y="5239512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Saben en qué etapa está el proyecto en todo momento. Sin silencios ni sorpresas.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4654296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609490" y="4855464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en 5 días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09490" y="5239512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la información completa. No semanas, no "ya casi", no excusas.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2557" y="4654296"/>
            <a:ext cx="3484778" cy="1664208"/>
          </a:xfrm>
          <a:prstGeom prst="roundRect">
            <a:avLst>
              <a:gd name="adj" fmla="val 5495"/>
            </a:avLst>
          </a:prstGeom>
          <a:solidFill>
            <a:srgbClr val="FAF6EE"/>
          </a:solidFill>
          <a:ln w="12700">
            <a:solidFill>
              <a:srgbClr val="E2D7C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368589" y="4855464"/>
            <a:ext cx="297271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Acompañamiento real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8589" y="5239512"/>
            <a:ext cx="297271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vez publicada la web, no desaparecemos. Las dudas posteriores tienen respuesta.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E0B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FRECUENTES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2734056" cy="347472"/>
          </a:xfrm>
          <a:prstGeom prst="roundRect">
            <a:avLst>
              <a:gd name="adj" fmla="val 47368"/>
            </a:avLst>
          </a:prstGeom>
          <a:solidFill>
            <a:srgbClr val="6B0F1A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FRECUENTES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000" dirty="0">
                <a:solidFill>
                  <a:srgbClr val="0E0B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probablemente </a:t>
            </a:r>
            <a:r>
              <a:rPr lang="en-US" sz="3000" i="1" dirty="0">
                <a:solidFill>
                  <a:srgbClr val="6B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preguntan.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necesitamos entregar?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43784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Logo, textos o ideas de contenido y acceso a su dominio. Les damos una lista exacta.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15888" y="251460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¿Cuánto tarda realmente?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5888" y="2843784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días hábiles si la información llega completa. El tiempo lo controlan ustedes.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483864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¿Podemos pedir cambios?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813048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La ronda incluida es antes de publicar. Cambios posteriores desde $350.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5888" y="3483864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¿La página es nuestra?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5888" y="3813048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100%. Código, diseño y dominio quedan completamente en manos de re:ach studio.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453128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¿El hosting está incluido?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782312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La web vive en la nube sin costo mensual. Solo el dominio se contrata aparte.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5888" y="4453128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¿Tiene integración con WhatsApp?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5888" y="4782312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Botón directo en cada sección clave con mensaje prellenado listo para enviar.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542239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¿Podemos actualizar contenido después?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5751576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Sí. Les explicamos cómo en el walkthrough. Cambios complejos tienen costo desde $350.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15888" y="5422392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0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¿Y después de la entrega?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15888" y="5751576"/>
            <a:ext cx="51814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3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web queda en vivo y lista. El mantenimiento mensual es completamente opcional.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09728" cy="109728"/>
          </a:xfrm>
          <a:prstGeom prst="ellipse">
            <a:avLst/>
          </a:prstGeom>
          <a:solidFill>
            <a:srgbClr val="DC352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777240" y="27432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82535" y="2743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15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 PASO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 Studio  ×  re:ach studio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68535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C9BB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064715" cy="347472"/>
          </a:xfrm>
          <a:prstGeom prst="roundRect">
            <a:avLst>
              <a:gd name="adj" fmla="val 47368"/>
            </a:avLst>
          </a:prstGeom>
          <a:solidFill>
            <a:srgbClr val="DC3528"/>
          </a:solidFill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SIGUIENTE PASO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000" dirty="0">
                <a:solidFill>
                  <a:srgbClr val="F4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Empecemos </a:t>
            </a:r>
            <a:r>
              <a:rPr lang="en-US" sz="5000" i="1" dirty="0">
                <a:solidFill>
                  <a:srgbClr val="EFD3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semana.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94360" y="3182112"/>
            <a:ext cx="7772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35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les hace sentido, podemos iniciar con el 50% de anticipo, definir la estructura esta semana y tener la web lista en </a:t>
            </a:r>
            <a:r>
              <a:rPr lang="en-US" sz="1350" b="1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días hábiles</a:t>
            </a:r>
            <a:r>
              <a:rPr lang="en-US" sz="1350" dirty="0">
                <a:solidFill>
                  <a:srgbClr val="EFD3C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vez que tengamos la información de re:ach studio.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4974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52669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Hablemos directo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29000" y="4974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06305" y="5225365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Orandaystudio.com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4974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C35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52669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F4EC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contacto@oranday.studio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6016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9B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Oranday Studio — dirección clara para marcas con criterio.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1483</Words>
  <Application>Microsoft Office PowerPoint</Application>
  <PresentationFormat>Panorámica</PresentationFormat>
  <Paragraphs>260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Georgia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Oranday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Oranday Studio × re:ach studio</dc:title>
  <dc:subject>Propuesta de desarrollo web — re:ach studio</dc:subject>
  <dc:creator>Oranday Studio</dc:creator>
  <cp:lastModifiedBy>Diego Gomez</cp:lastModifiedBy>
  <cp:revision>2</cp:revision>
  <dcterms:created xsi:type="dcterms:W3CDTF">2026-06-08T17:34:16Z</dcterms:created>
  <dcterms:modified xsi:type="dcterms:W3CDTF">2026-06-08T17:44:24Z</dcterms:modified>
</cp:coreProperties>
</file>